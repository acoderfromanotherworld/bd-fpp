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ppt/charts/chart5.xml" ContentType="application/vnd.openxmlformats-officedocument.drawingml.chart+xml"/>
  <Override PartName="/ppt/notesSlides/notesSlide20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81" r:id="rId7"/>
    <p:sldId id="261" r:id="rId8"/>
    <p:sldId id="26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2" r:id="rId25"/>
    <p:sldId id="27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</a:rPr>
              <a:t>Correlation (R) — higher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Pearson R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XGBoost</c:v>
                </c:pt>
                <c:pt idx="2">
                  <c:v>Gradient
Boosting</c:v>
                </c:pt>
                <c:pt idx="3">
                  <c:v>Linear
Regression</c:v>
                </c:pt>
                <c:pt idx="4">
                  <c:v>M5P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0.45150000000000001</c:v>
                </c:pt>
                <c:pt idx="1">
                  <c:v>0.44230000000000003</c:v>
                </c:pt>
                <c:pt idx="2">
                  <c:v>0.42499999999999999</c:v>
                </c:pt>
                <c:pt idx="3">
                  <c:v>0.41239999999999999</c:v>
                </c:pt>
                <c:pt idx="4">
                  <c:v>0.35909999999999997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B9-44DE-88D9-50CA085883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</a:rPr>
              <a:t>Relative Absolute Error (%) —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Random
Forest</c:v>
                </c:pt>
                <c:pt idx="1">
                  <c:v>XGBoost</c:v>
                </c:pt>
                <c:pt idx="2">
                  <c:v>Gradient
Boosting</c:v>
                </c:pt>
                <c:pt idx="3">
                  <c:v>Linear
Regression</c:v>
                </c:pt>
                <c:pt idx="4">
                  <c:v>M5P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99.83</c:v>
                </c:pt>
                <c:pt idx="1">
                  <c:v>95.64</c:v>
                </c:pt>
                <c:pt idx="2">
                  <c:v>91.57</c:v>
                </c:pt>
                <c:pt idx="3">
                  <c:v>148.51</c:v>
                </c:pt>
                <c:pt idx="4">
                  <c:v>122.47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4F-45E6-8A75-0F50120AE1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</a:rPr>
              <a:t>Correlation (R) — higher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Pearson R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
Forest</c:v>
                </c:pt>
                <c:pt idx="2">
                  <c:v>Gradient
Boosting</c:v>
                </c:pt>
                <c:pt idx="3">
                  <c:v>M5P</c:v>
                </c:pt>
                <c:pt idx="4">
                  <c:v>Linear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0.78869999999999996</c:v>
                </c:pt>
                <c:pt idx="1">
                  <c:v>0.76929999999999998</c:v>
                </c:pt>
                <c:pt idx="2">
                  <c:v>0.65720000000000001</c:v>
                </c:pt>
                <c:pt idx="3">
                  <c:v>0.60609999999999997</c:v>
                </c:pt>
                <c:pt idx="4">
                  <c:v>0.55059999999999998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21-46EE-A179-712FB0D047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</a:rPr>
              <a:t>Relative Absolute Error (%) — lower is better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RAE (%)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Random
Forest</c:v>
                </c:pt>
                <c:pt idx="2">
                  <c:v>Gradient
Boosting</c:v>
                </c:pt>
                <c:pt idx="3">
                  <c:v>M5P</c:v>
                </c:pt>
                <c:pt idx="4">
                  <c:v>Linear
Regression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42.96</c:v>
                </c:pt>
                <c:pt idx="1">
                  <c:v>53.16</c:v>
                </c:pt>
                <c:pt idx="2">
                  <c:v>66.61</c:v>
                </c:pt>
                <c:pt idx="3">
                  <c:v>66.73</c:v>
                </c:pt>
                <c:pt idx="4">
                  <c:v>75.45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A1-495C-A647-853CF9DA53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600" b="0" i="0" u="none" strike="noStrike">
                <a:solidFill>
                  <a:srgbClr val="000000"/>
                </a:solidFill>
                <a:latin typeface="Times New Roman"/>
              </a:rPr>
              <a:t>Average RAE (%) by protocol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Split</c:v>
                </c:pt>
              </c:strCache>
            </c:strRef>
          </c:tx>
          <c:spPr>
            <a:solidFill>
              <a:srgbClr val="2E5C8A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Linear
Regression</c:v>
                </c:pt>
                <c:pt idx="2">
                  <c:v>Random
Forest</c:v>
                </c:pt>
                <c:pt idx="3">
                  <c:v>M5P</c:v>
                </c:pt>
                <c:pt idx="4">
                  <c:v>Gradient
Boosting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42.96</c:v>
                </c:pt>
                <c:pt idx="1">
                  <c:v>75.45</c:v>
                </c:pt>
                <c:pt idx="2">
                  <c:v>53.16</c:v>
                </c:pt>
                <c:pt idx="3">
                  <c:v>66.73</c:v>
                </c:pt>
                <c:pt idx="4">
                  <c:v>66.61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3B-478F-A60C-88042988E7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Chronological Split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XGBoost</c:v>
                </c:pt>
                <c:pt idx="1">
                  <c:v>Linear
Regression</c:v>
                </c:pt>
                <c:pt idx="2">
                  <c:v>Random
Forest</c:v>
                </c:pt>
                <c:pt idx="3">
                  <c:v>M5P</c:v>
                </c:pt>
                <c:pt idx="4">
                  <c:v>Gradient
Boosting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95.64</c:v>
                </c:pt>
                <c:pt idx="1">
                  <c:v>148.51</c:v>
                </c:pt>
                <c:pt idx="2">
                  <c:v>99.83</c:v>
                </c:pt>
                <c:pt idx="3">
                  <c:v>122.47</c:v>
                </c:pt>
                <c:pt idx="4">
                  <c:v>91.57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43B-478F-A60C-88042988E7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500" b="0" i="0" u="none" strike="noStrike">
                <a:solidFill>
                  <a:srgbClr val="000000"/>
                </a:solidFill>
                <a:latin typeface="Times New Roman"/>
              </a:rPr>
              <a:t>Pooled Correlation (R)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Regression</c:v>
                </c:pt>
              </c:strCache>
            </c:strRef>
          </c:tx>
          <c:spPr>
            <a:ln w="31750" cap="flat">
              <a:solidFill>
                <a:srgbClr val="1B2A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A4A"/>
              </a:solidFill>
              <a:ln w="9525" cap="flat">
                <a:solidFill>
                  <a:srgbClr val="1B2A4A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7-day</c:v>
                </c:pt>
                <c:pt idx="1">
                  <c:v>14-day</c:v>
                </c:pt>
                <c:pt idx="2">
                  <c:v>30-day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0.99519999999999997</c:v>
                </c:pt>
                <c:pt idx="1">
                  <c:v>0.99339999999999995</c:v>
                </c:pt>
                <c:pt idx="2">
                  <c:v>0.98209999999999997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2C-4B0C-8FF2-45E9955A98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ln w="31750" cap="flat">
              <a:solidFill>
                <a:srgbClr val="2E5C8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5C8A"/>
              </a:solidFill>
              <a:ln w="9525" cap="flat">
                <a:solidFill>
                  <a:srgbClr val="2E5C8A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7-day</c:v>
                </c:pt>
                <c:pt idx="1">
                  <c:v>14-day</c:v>
                </c:pt>
                <c:pt idx="2">
                  <c:v>30-day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0.99490000000000001</c:v>
                </c:pt>
                <c:pt idx="1">
                  <c:v>0.99150000000000005</c:v>
                </c:pt>
                <c:pt idx="2">
                  <c:v>0.9829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2C-4B0C-8FF2-45E9955A98A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Gradient Boosting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7-day</c:v>
                </c:pt>
                <c:pt idx="1">
                  <c:v>14-day</c:v>
                </c:pt>
                <c:pt idx="2">
                  <c:v>30-day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0.99480000000000002</c:v>
                </c:pt>
                <c:pt idx="1">
                  <c:v>0.99319999999999997</c:v>
                </c:pt>
                <c:pt idx="2">
                  <c:v>0.9798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2C-4B0C-8FF2-45E9955A98A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XGBoost</c:v>
                </c:pt>
              </c:strCache>
            </c:strRef>
          </c:tx>
          <c:spPr>
            <a:ln w="31750" cap="flat">
              <a:solidFill>
                <a:srgbClr val="27AE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7-day</c:v>
                </c:pt>
                <c:pt idx="1">
                  <c:v>14-day</c:v>
                </c:pt>
                <c:pt idx="2">
                  <c:v>30-day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0.99280000000000002</c:v>
                </c:pt>
                <c:pt idx="1">
                  <c:v>0.98740000000000006</c:v>
                </c:pt>
                <c:pt idx="2">
                  <c:v>0.9798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2C-4B0C-8FF2-45E9955A98A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M5P</c:v>
                </c:pt>
              </c:strCache>
            </c:strRef>
          </c:tx>
          <c:spPr>
            <a:ln w="31750" cap="flat">
              <a:solidFill>
                <a:srgbClr val="8E44A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E44AD"/>
              </a:solidFill>
              <a:ln w="9525" cap="flat">
                <a:solidFill>
                  <a:srgbClr val="8E44AD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7-day</c:v>
                </c:pt>
                <c:pt idx="1">
                  <c:v>14-day</c:v>
                </c:pt>
                <c:pt idx="2">
                  <c:v>30-day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0.95240000000000002</c:v>
                </c:pt>
                <c:pt idx="1">
                  <c:v>0.96730000000000005</c:v>
                </c:pt>
                <c:pt idx="2">
                  <c:v>0.98170000000000002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2C-4B0C-8FF2-45E9955A98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Times New Roman"/>
              <a:cs typeface="Times New Roman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Times New Roman"/>
              </a:defRPr>
            </a:pPr>
            <a:r>
              <a:rPr lang="en-US" sz="1500" b="0" i="0" u="none" strike="noStrike">
                <a:solidFill>
                  <a:srgbClr val="000000"/>
                </a:solidFill>
                <a:latin typeface="Times New Roman"/>
              </a:rPr>
              <a:t>Average MAE across 5 models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MAE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0" i="0" u="none" strike="noStrike">
                    <a:solidFill>
                      <a:srgbClr val="222222"/>
                    </a:solidFill>
                    <a:latin typeface="Times New Roman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7-day</c:v>
                </c:pt>
                <c:pt idx="1">
                  <c:v>14-day</c:v>
                </c:pt>
                <c:pt idx="2">
                  <c:v>30-day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8.06</c:v>
                </c:pt>
                <c:pt idx="1">
                  <c:v>10.43</c:v>
                </c:pt>
                <c:pt idx="2">
                  <c:v>11.95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0E-45B9-BE4C-B6CF75B15A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815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FEAF4-DF02-BBBB-F203-0964EF280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437EC8-5DE3-8BE3-C43B-B30A78BACE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93D3-C5F7-ED14-FD69-27B57345F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DF4AF-A4AA-F0AA-AE75-D1444A480C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6836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116CE-63B5-B1DD-690D-EDC04B30C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23DA3B-23E7-3266-81D0-7BD0BF24D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0C210-1AEC-172B-3548-4D906E240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F89F91-3859-9760-E050-DA2D2F77C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79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0ABE-4415-1D56-8CCB-69C86675E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C47E16-03E4-62CF-CF15-B7B8F836E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BD19B-6F31-B262-1423-3CD82361F4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9336C8-CAE1-9760-4BB2-B73E26B750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765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6577D-B0DF-7A90-D3C3-E5EE7031C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6AFEB9-2FFE-C1D7-29AA-2DC2CCD2E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E8B08F-C6F1-53E3-AC31-7EFE028E4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A1E0B-A596-FE3C-2300-1357412081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1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8CE1-128E-78B0-F96D-386625BE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7B30E-6FF7-DCAD-531B-6A0812722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84A61-172B-4243-0348-91D1DD1811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353DB-021D-0CF8-2FAC-D6EF89C115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74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34A15-B07D-32E4-BAB7-61B8104AE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4D93E7-0867-463E-E68B-7A8C74DDA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7F7BD-ABEE-F26F-10B3-B65878102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011DF-FD0F-951D-A396-3066CF1636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43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50E09-C88A-4518-4987-4E80057D1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88658-01C8-6F25-445A-B6DDE946E6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6CB29-FA7C-D532-CD05-06B3293F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486D8-E921-58B5-0FCA-F91E2F8D6A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584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ED0E1-803B-9F06-07BF-286505E0E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B96603-5C19-E58C-D333-88BD38791E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8F861-F3DF-A85B-BFFE-2F33D67D2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EBADAD-51B8-EE32-2E4A-C8F709044D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407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3CF93-5128-98F9-5C74-E6D09A1D0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E51659-15DD-7196-4703-2D909044B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CC718-AE91-8327-5E35-4560D72E8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D5EA4-05B6-C79B-D6C1-9B8468EEF8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33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7E61-67ED-6D3C-0151-9DE02C55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A0237E-D024-7673-0CCD-684FFC8F47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D7BB0A-9148-9BCC-F2C1-1B5BB90811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2C18D-BE50-084C-9B16-0331F47124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577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6459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D6E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Multi-Region Bangladeshi Food-Price Dataset with Engineered Lag Features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D6E0E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Time-Series Commodity Price Forecasting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8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 September 2026  |  Group B2, Batch 2K21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AB8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Khulna University of Engineering &amp; Technology — Dept. of Computer Science &amp; Engineering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AAB8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CSE 4112: Machine Learning Laboratory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Md. Sabith · Abu Hasanat Soykot · Newaz Mohammad Hamim · Tajnoor Sultana · Ahsanul Islam Emon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Regionally disaggregated panel of daily retail commodity prices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3447639"/>
              </p:ext>
            </p:extLst>
          </p:nvPr>
        </p:nvGraphicFramePr>
        <p:xfrm>
          <a:off x="457200" y="1463039"/>
          <a:ext cx="11247120" cy="43285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6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Coverage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 divisions, 18 commodities, 295 distinct calendar dates (16 Jun 2025 - 20 Aug 2026)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Pre-lag records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32,647 rows (raw division-level panel)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Model-ready table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25,207 rows x 15 columns, zero missing values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701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Exchange rate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>
                        <a:buNone/>
                      </a:pP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Daily USD/BDT reference rate joined by date; range 121.00-123.785, mean 122.42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indent="0">
                        <a:buNone/>
                      </a:pP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 Pipeline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raw panel to model-ready multi-horizon table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874520"/>
            <a:ext cx="1847088" cy="1508760"/>
          </a:xfrm>
          <a:prstGeom prst="roundRect">
            <a:avLst>
              <a:gd name="adj" fmla="val 484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365760" y="1874520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division-level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panel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(32,647 rows)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167128" y="1874520"/>
            <a:ext cx="128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276856" y="1874520"/>
            <a:ext cx="1847088" cy="1508760"/>
          </a:xfrm>
          <a:prstGeom prst="roundRect">
            <a:avLst>
              <a:gd name="adj" fmla="val 484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322576" y="1874520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Duplicate check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sort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series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23944" y="1874520"/>
            <a:ext cx="128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233672" y="1874520"/>
            <a:ext cx="1847088" cy="1508760"/>
          </a:xfrm>
          <a:prstGeom prst="roundRect">
            <a:avLst>
              <a:gd name="adj" fmla="val 484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279392" y="1874520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Lag features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T-1 / T-7 / T-30 /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30d-MA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874520"/>
            <a:ext cx="128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190488" y="1874520"/>
            <a:ext cx="1847088" cy="1508760"/>
          </a:xfrm>
          <a:prstGeom prst="roundRect">
            <a:avLst>
              <a:gd name="adj" fmla="val 484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236208" y="1874520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Forward targets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target_7d/14d/30d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(drop incomplete rows)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37576" y="1874520"/>
            <a:ext cx="128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147304" y="1874520"/>
            <a:ext cx="1847088" cy="1508760"/>
          </a:xfrm>
          <a:prstGeom prst="roundRect">
            <a:avLst>
              <a:gd name="adj" fmla="val 484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193024" y="1874520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Model-ready table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25,207 rows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columns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994392" y="1874520"/>
            <a:ext cx="12801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0104120" y="1874520"/>
            <a:ext cx="1847088" cy="1508760"/>
          </a:xfrm>
          <a:prstGeom prst="roundRect">
            <a:avLst>
              <a:gd name="adj" fmla="val 4848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149840" y="1874520"/>
            <a:ext cx="175564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 &amp; Random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80/20 splits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-&gt; Weka ARFF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Two evaluation protocols run on the same 25,207-row table: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539496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48006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Split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Earliest 80% (20,165 rows) trains,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latest 20% (5,042 rows) tests.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Mirrors genuine forecasting — no future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information reaches training.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035040" y="4709160"/>
            <a:ext cx="5669280" cy="1600200"/>
          </a:xfrm>
          <a:prstGeom prst="roundRect">
            <a:avLst>
              <a:gd name="adj" fmla="val 3429"/>
            </a:avLst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217920" y="48006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(Shuffled) Split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Seed 42, i.i.d. 80/20 shuffle, same sizes.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Past/future rows interleaved — a direct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stress test of the leakage risk flagged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group's earlier report.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Project Workflow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End-to-end path from raw price collection to forecasting output</a:t>
            </a:r>
            <a:endParaRPr lang="en-US" sz="18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027" y="1463426"/>
            <a:ext cx="10213676" cy="493698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Schema — 15 Columns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6715"/>
              </p:ext>
            </p:extLst>
          </p:nvPr>
        </p:nvGraphicFramePr>
        <p:xfrm>
          <a:off x="457200" y="1463040"/>
          <a:ext cx="11247120" cy="425196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Field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Type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Role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division, commodity_name, retail_unit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Nominal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Categorical predictors (8 / 18 / 3 values)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year, month, day, usd_bdt_rate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Calendar + exchange-rate predictors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average_price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Observed current retail price (predictor)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Price_T-1, Price_T-7, Price_T-30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Engineered lag predictors (own series history)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Price_30d_MA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Engineered trailing 30-obs. rolling-average predictor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target_7d / target_14d / target_30d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Numeric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Forecast targets — price N days ahead (class per run)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3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D5D57-9C3B-57A2-3288-6DAB06A55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4B59B3-141D-F47E-3251-D30FD8E5D8D8}"/>
              </a:ext>
            </a:extLst>
          </p:cNvPr>
          <p:cNvSpPr txBox="1"/>
          <p:nvPr/>
        </p:nvSpPr>
        <p:spPr>
          <a:xfrm>
            <a:off x="472440" y="340008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Schema — 15 Columns</a:t>
            </a:r>
            <a:endParaRPr lang="en-US" sz="34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3D78991-6DB2-6C94-7F88-E8E11B88A43E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97D9116-E615-1A7E-A9AE-6AE3EB4A9BBF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E79250D-B38B-91C7-CFCD-0CF8CCBF7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6929624"/>
              </p:ext>
            </p:extLst>
          </p:nvPr>
        </p:nvGraphicFramePr>
        <p:xfrm>
          <a:off x="1138333" y="1138335"/>
          <a:ext cx="9797142" cy="50386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5714">
                  <a:extLst>
                    <a:ext uri="{9D8B030D-6E8A-4147-A177-3AD203B41FA5}">
                      <a16:colId xmlns:a16="http://schemas.microsoft.com/office/drawing/2014/main" val="340177566"/>
                    </a:ext>
                  </a:extLst>
                </a:gridCol>
                <a:gridCol w="3265714">
                  <a:extLst>
                    <a:ext uri="{9D8B030D-6E8A-4147-A177-3AD203B41FA5}">
                      <a16:colId xmlns:a16="http://schemas.microsoft.com/office/drawing/2014/main" val="3616625866"/>
                    </a:ext>
                  </a:extLst>
                </a:gridCol>
                <a:gridCol w="3265714">
                  <a:extLst>
                    <a:ext uri="{9D8B030D-6E8A-4147-A177-3AD203B41FA5}">
                      <a16:colId xmlns:a16="http://schemas.microsoft.com/office/drawing/2014/main" val="1906966034"/>
                    </a:ext>
                  </a:extLst>
                </a:gridCol>
              </a:tblGrid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Commodity No.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Commodity Name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Retail Unit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402838394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 (loose) – White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422524797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Palm Oil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437920762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Soybean Oil (loose)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589606156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Egg Farm-Red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Pieces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272155320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Chili (Local)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064442311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Garlic (Imported)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531195153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Broiler chicken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616358630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Beef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28664392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Ginger (Imported)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975065236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Pangash (big)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158887369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Garlic (local) – Big Size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342726764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 (Packet)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59415604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 (local)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379931556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 – Medium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314732394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Rice – Fine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947646750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Lentils – Desi-Whole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331190665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 (Holland) – Red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Kilogram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841127498"/>
                  </a:ext>
                </a:extLst>
              </a:tr>
              <a:tr h="26519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Milk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078200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72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ML 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historical BD-FPP records become a predicted price</a:t>
            </a:r>
            <a:endParaRPr lang="en-US" sz="18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2048" y="1325880"/>
            <a:ext cx="10058400" cy="53029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Five Regression Models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12 predictors; class = one of target_7d / target_14d / target_30d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391014"/>
              </p:ext>
            </p:extLst>
          </p:nvPr>
        </p:nvGraphicFramePr>
        <p:xfrm>
          <a:off x="457199" y="1463040"/>
          <a:ext cx="5003322" cy="4224528"/>
        </p:xfrm>
        <a:graphic>
          <a:graphicData uri="http://schemas.openxmlformats.org/drawingml/2006/table">
            <a:tbl>
              <a:tblPr/>
              <a:tblGrid>
                <a:gridCol w="2877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6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Model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Train time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Linear Regression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0.19 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M5P (model tree)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 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1.8 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3.1 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3.65 s</a:t>
                      </a:r>
                      <a:endParaRPr lang="en-US" sz="24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71337" y="1463040"/>
            <a:ext cx="5163771" cy="4206240"/>
          </a:xfrm>
          <a:prstGeom prst="roundRect">
            <a:avLst>
              <a:gd name="adj" fmla="val 1364"/>
            </a:avLst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models do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354217" y="2011680"/>
            <a:ext cx="4694337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division, commodity, date, USD/BDT rate, current price + 4 lag features
</a:t>
            </a: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predicted retail price 7 / 14 / 30 days ahead (BDT per unit)
</a:t>
            </a: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decision-support for short-horizon price monitoring, not autonomous pricing
</a:t>
            </a:r>
            <a:r>
              <a:rPr lang="en-US" b="1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Dispatch: </a:t>
            </a:r>
            <a:r>
              <a:rPr lang="en-US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via Weka's Classifiers; GB/XGBoost via the ScikitLearnClassifier wrapper</a:t>
            </a:r>
            <a:endParaRPr lang="en-US" dirty="0"/>
          </a:p>
        </p:txBody>
      </p:sp>
      <p:sp>
        <p:nvSpPr>
          <p:cNvPr id="4" name="Text 5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230A3-050A-E740-68A8-6C6C77DF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357101-9A2B-3339-9ADE-92FCE49E2AB2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Time-series Graph Analysis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8249F5C-A672-F6EF-9531-574E58BD28C9}"/>
              </a:ext>
            </a:extLst>
          </p:cNvPr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Regression for 18 commodities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1CC04FB-2A98-07BB-836B-887FE8B65B3D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27B07451-7D53-A0B8-474D-2AD578032E90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BE9841D-4D72-802D-88FE-B148833B41CD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9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FD130-41E0-238C-4C85-9ABA4A1F2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280160"/>
            <a:ext cx="5318450" cy="525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960DBAA-B1F2-604E-E68D-77E652ACBA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1" y="1279310"/>
            <a:ext cx="5440679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85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9891-15C2-35EE-E25B-61D69F999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FB40D0F-3110-BF68-343A-0191849E3202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Time-series Graph Analysis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C372DB-CA65-75E2-7C82-A93C421EDE13}"/>
              </a:ext>
            </a:extLst>
          </p:cNvPr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M5P for 18 commodities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20002F5-A04B-6EF4-35A5-B1FC4E8AC2B8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E3EBEC0-2562-08D7-A27C-E9D10FDE5A53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2F6C071-920F-99AF-5FF2-023EE5E82424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10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3D0E48-8F4F-4D74-075D-B30F4B0E22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5082" y="1279310"/>
            <a:ext cx="5425440" cy="525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138A98-7C32-9DAA-3BC1-2C9588B630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279310"/>
            <a:ext cx="542544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83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19C2F-B765-EA2F-0FE6-B267A1D1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2AA79D-54ED-065B-E272-380A9406630D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Time-series Graph Analysis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0D42E28-417E-054D-8745-8B93E36262AA}"/>
              </a:ext>
            </a:extLst>
          </p:cNvPr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18 commodities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4257166-0F07-6A1E-70EA-F854761FE26A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9D91B54B-777E-365F-1AEF-A999D5641B6D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CEA4AE4-823D-D7C8-50D3-B5B85D6AF149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11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69F0DA-8A77-001B-ED7E-85C6215A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5233594" cy="525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DA5A42-8B65-9DCC-4B0B-C7EE0F23B8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279310"/>
            <a:ext cx="542544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8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D692-DCC3-28EA-E598-BBC77966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30B262-4A58-1EA5-D79C-0DBC39763C83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Time-series Graph Analysis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F5415F-1F2E-E500-E61F-D1732ED8DBD6}"/>
              </a:ext>
            </a:extLst>
          </p:cNvPr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Boosting for 18 commodities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0FDCBE2-D89A-8DC4-5EBE-693D89222E25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D1AEA4F5-79DD-F6A4-0F39-E2983CBBE265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A5C137C-F2DC-320B-7E33-8599CB300DB7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12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09CACCD-F654-1B65-D87F-981843301F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5380584" cy="525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04E2D1-FEB6-CE56-31CD-6C34FFF375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279310"/>
            <a:ext cx="542544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32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7352E-19E2-5A5D-864E-6C07C51EF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FDDF46-4B0B-A10C-33C7-A6DDB6EE1247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Time-series Graph Analysis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3AC5CDE-EB73-DDE5-AEDC-9AFA4CA43F7E}"/>
              </a:ext>
            </a:extLst>
          </p:cNvPr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 err="1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for 18 commodities</a:t>
            </a:r>
            <a:endParaRPr lang="en-US" sz="1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8ABC37-23C3-A2E3-31C5-E1AA201EB900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BE6C98E7-7AB3-1672-E685-DB88406B11D9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C060087-E22E-D9EB-0EBA-B9FAB3ABBD4B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13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687B7A-F7A1-DD15-00D6-C86D7BDC0C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280160"/>
            <a:ext cx="5475181" cy="5257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97ACAC-C874-E0AF-5DD6-CC809C6CE4F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279310"/>
            <a:ext cx="542544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80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F2530-DEC2-D921-2BAF-0AD8C746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3E8CDD-A2B2-C656-EF72-7165A8229234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Cross-Model Analysis (Rice - Medium)</a:t>
            </a:r>
            <a:endParaRPr lang="en-US" sz="3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55D3655-6B23-8DAE-A40F-77430C9FB2A2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168479E-7A8F-7103-7002-B7B94BA24517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8BC96D7-2694-25E2-F523-8C52AB1BECB2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14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590F3E5-FF19-9761-44A9-1C8ECD865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07" y="960324"/>
            <a:ext cx="5639177" cy="27345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154CF69-AF71-2857-1FF7-A74EF3A8D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863" y="960324"/>
            <a:ext cx="5639177" cy="27345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B0DDEF0-43BC-B3B1-33D7-6A8545483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171" y="3739896"/>
            <a:ext cx="5639177" cy="275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917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4192E-AE71-B095-EEBF-E0D43332E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A86DEA-F126-4304-AFF9-DDB65007594B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Cross-Model Analysis (Onion - Local)</a:t>
            </a:r>
            <a:endParaRPr lang="en-US" sz="3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16B7F0B-4CDA-3DA6-F02C-969D9C3938D9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1B4F51C3-78C0-9554-E210-1060C9ECED6A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99EA8F5-D963-290A-D23F-8EAA40EA705A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15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7D965F-A177-5BB8-417A-5E1C033973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8607" y="986806"/>
            <a:ext cx="5639177" cy="270811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1F8CB1D-1464-E69F-CDE9-8070B164B51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10863" y="986806"/>
            <a:ext cx="5639177" cy="27081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44C4FB5-F511-C3F6-EAE8-2D65030E6E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61171" y="3694922"/>
            <a:ext cx="5639177" cy="2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854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D39AB-B5BB-EE99-6AB4-CC70A447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83A1E-61D7-0524-7C68-43480FC93CED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cs typeface="Times New Roman" pitchFamily="34" charset="-120"/>
              </a:rPr>
              <a:t>Cross-Model Analysis (Soybean Oil - Loose)</a:t>
            </a:r>
            <a:endParaRPr lang="en-US" sz="34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8C5ADD2-1389-394E-4D99-F3B8D68ACE2D}"/>
              </a:ext>
            </a:extLst>
          </p:cNvPr>
          <p:cNvSpPr txBox="1"/>
          <p:nvPr/>
        </p:nvSpPr>
        <p:spPr>
          <a:xfrm>
            <a:off x="6354217" y="1600200"/>
            <a:ext cx="46943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33D9D7CC-458B-73A7-960F-4238AB2462A5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ED7D14-3C39-CBA0-A4B8-99F4E54066B4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16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A99726-C0CA-3B40-9920-86EA4D64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8607" y="986806"/>
            <a:ext cx="5639177" cy="27081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5BF9BEE-E825-6ED8-1F2B-B9B4ED28A7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10863" y="986806"/>
            <a:ext cx="5639177" cy="270811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1F51657-40B3-72C5-90C7-2EA26FD1BB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261171" y="3694922"/>
            <a:ext cx="5639177" cy="284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28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Chronological Split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4630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Best correlation: Random Forest (R=0.4515, RMSE 13.05)   |   Lowest error: Gradient Boosting (RAE=91.57%, MAPE=6.95%)   |   Weakest: M5P (MSE 1,685)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530771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— Random (Shuffled) Split</a:t>
            </a:r>
            <a:endParaRPr lang="en-US" sz="3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46304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model scores far higher than under the chronological split (best R rises 0.45 -&gt; 0.79) — the interpolation/leakage signal the report quantifies next.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vs. Random — Generalization Gap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model degrades under the honest, chronological protocol (Table 13)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41816668"/>
              </p:ext>
            </p:extLst>
          </p:nvPr>
        </p:nvGraphicFramePr>
        <p:xfrm>
          <a:off x="457200" y="1463040"/>
          <a:ext cx="7589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463040"/>
            <a:ext cx="3429000" cy="4389120"/>
          </a:xfrm>
          <a:prstGeom prst="roundRect">
            <a:avLst>
              <a:gd name="adj" fmla="val 1600"/>
            </a:avLst>
          </a:prstGeom>
          <a:solidFill>
            <a:srgbClr val="F4F6F9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458200" y="1600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Degradation ratio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(chrono / random)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28600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XGBoost: 2.23x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falls 0.79 -&gt; 0.44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Regr.: 1.97x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 falls 0.55 -&gt; 0.41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Forest: 1.88x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M5P: 1.84x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Boosting: 1.38x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2222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(most protocol-stable)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vs. Forecast Horizon (Pooled)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Whole-test-set correlation and MAE, chronological split (Table 14)</a:t>
            </a:r>
            <a:endParaRPr lang="en-US" sz="1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63040"/>
          <a:ext cx="5486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17920" y="1463040"/>
          <a:ext cx="54864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Per-Horizon Macro-Averaged Comparison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R, RAE, MAPE and RMSE by model and horizon — random-split view (Sec. 10.11)</a:t>
            </a:r>
            <a:endParaRPr lang="en-US" sz="1800" dirty="0"/>
          </a:p>
        </p:txBody>
      </p:sp>
      <p:pic>
        <p:nvPicPr>
          <p:cNvPr id="4" name="Image 0" descr="/home/claude/img_horiz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325" y="1463040"/>
            <a:ext cx="9756475" cy="4937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Model Wins — and Why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Combining both protocols and all three horizons</a:t>
            </a:r>
            <a:endParaRPr lang="en-US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699480"/>
              </p:ext>
            </p:extLst>
          </p:nvPr>
        </p:nvGraphicFramePr>
        <p:xfrm>
          <a:off x="457200" y="1371600"/>
          <a:ext cx="11247120" cy="414528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Criterion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Winner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Evidence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chronological correlation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Random Forest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0.4515, RMSE 13.05 (Table 11)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Lowest chronological error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RAE 91.57%, MAPE 6.95%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 random-split accuracy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XGBoost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 = 0.7887, RAE 42.96%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Most protocol-stable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Gradient Boosting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Only 1.38x degradation (Table 13)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Least stable overall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M5P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222222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Best-at-30-days but worst-at-7-days — reverses under both axes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66928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/>
              <a:t>Overall recommendation:</a:t>
            </a:r>
            <a:r>
              <a:rPr lang="en-US" sz="1600" dirty="0"/>
              <a:t> </a:t>
            </a:r>
            <a:r>
              <a:rPr lang="en-US" sz="1600" b="1" dirty="0" err="1"/>
              <a:t>XGBoost</a:t>
            </a:r>
            <a:r>
              <a:rPr lang="en-US" sz="1600" dirty="0"/>
              <a:t> is the best choice for real forecasting because it performed very well in both testing methods. </a:t>
            </a:r>
            <a:r>
              <a:rPr lang="en-US" sz="1600" b="1" dirty="0"/>
              <a:t>Gradient Boosting</a:t>
            </a:r>
            <a:r>
              <a:rPr lang="en-US" sz="1600" dirty="0"/>
              <a:t> gave the most consistent results and worked best for predicting the near future (short-term forecasts).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Workflow — gui.py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164336" y="1874520"/>
            <a:ext cx="1847088" cy="1691640"/>
          </a:xfrm>
          <a:prstGeom prst="roundRect">
            <a:avLst>
              <a:gd name="adj" fmla="val 4324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210056" y="1874520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selects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protocol, model,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division, commodity,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date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154680" y="1874520"/>
            <a:ext cx="1847088" cy="1691640"/>
          </a:xfrm>
          <a:prstGeom prst="roundRect">
            <a:avLst>
              <a:gd name="adj" fmla="val 432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200400" y="1874520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 greedy jumps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(e.g. 45 days =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+ 14 + 7)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01768" y="1874520"/>
            <a:ext cx="128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11496" y="1874520"/>
            <a:ext cx="1847088" cy="1691640"/>
          </a:xfrm>
          <a:prstGeom prst="roundRect">
            <a:avLst>
              <a:gd name="adj" fmla="val 432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5157216" y="1874520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Rebuild lag row -&gt;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-&gt; append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 synthetic obs.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1874520"/>
            <a:ext cx="128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068312" y="1874520"/>
            <a:ext cx="1847088" cy="1691640"/>
          </a:xfrm>
          <a:prstGeom prst="roundRect">
            <a:avLst>
              <a:gd name="adj" fmla="val 4324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114032" y="1874520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 until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date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(every step logged)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1874520"/>
            <a:ext cx="12801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025128" y="1874520"/>
            <a:ext cx="1847088" cy="1691640"/>
          </a:xfrm>
          <a:prstGeom prst="roundRect">
            <a:avLst>
              <a:gd name="adj" fmla="val 4324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070848" y="1874520"/>
            <a:ext cx="175564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predicted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price (BDT) +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Jump Log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776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files: Weka-native models (Linear Regression, M5P, Random Forest) run through python-weka-wrapper3 + a local JVM; Gradient Boosting and XGBoost are unwrapped from Weka's ScikitLearnClassifier objects with javaobj and executed as native scikit-learn pickles.</a:t>
            </a:r>
            <a:endParaRPr lang="en-US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9204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/>
              <a:t>Each prediction is used to make the next one, so errors can grow over time. Therefore, long-term predictions are less accurate and should be treated as estimates rather than exact prices.</a:t>
            </a:r>
            <a:endParaRPr lang="en-US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cs typeface="Times New Roman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249BD-D088-1E26-FD12-6CB993308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CB3F16-B58E-B92A-BF83-02F2E02B9D2E}"/>
              </a:ext>
            </a:extLst>
          </p:cNvPr>
          <p:cNvSpPr txBox="1"/>
          <p:nvPr/>
        </p:nvSpPr>
        <p:spPr>
          <a:xfrm>
            <a:off x="457200" y="25603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Inference Workflow — gui.py</a:t>
            </a:r>
            <a:endParaRPr lang="en-US" sz="3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7481EA6-6613-24ED-F041-E6EDD1AC87E8}"/>
              </a:ext>
            </a:extLst>
          </p:cNvPr>
          <p:cNvSpPr txBox="1"/>
          <p:nvPr/>
        </p:nvSpPr>
        <p:spPr>
          <a:xfrm>
            <a:off x="457200" y="65379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BD-FPP: Multi-Region Bangladeshi Food-Price Dataset  |  KUET CSE 4112</a:t>
            </a:r>
            <a:endParaRPr lang="en-US" sz="11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5B991E3E-EFA1-22E0-DFF5-55224DCAED91}"/>
              </a:ext>
            </a:extLst>
          </p:cNvPr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999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</a:t>
            </a:r>
            <a:endParaRPr lang="en-US" sz="11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0DAC95D-E497-9793-3C23-48923BC44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1" y="939807"/>
            <a:ext cx="11216640" cy="534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20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AB8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BD-FPP — Bangladeshi Food-Price Panel  |  Group B2, Batch 2K21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0B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Md. Sabith · Abu Hasanat Soykot · Newaz Mohammad Hamim · Tajnoor Sultana · Ahsanul Islam Emon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B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Khulna University of Engineering &amp; Technology — Dept. of Computer Science &amp; Engineering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1514</Words>
  <Application>Microsoft Office PowerPoint</Application>
  <PresentationFormat>Widescreen</PresentationFormat>
  <Paragraphs>315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Tajnoor Toya</cp:lastModifiedBy>
  <cp:revision>12</cp:revision>
  <dcterms:created xsi:type="dcterms:W3CDTF">2026-09-23T08:23:45Z</dcterms:created>
  <dcterms:modified xsi:type="dcterms:W3CDTF">2026-09-24T17:59:43Z</dcterms:modified>
</cp:coreProperties>
</file>